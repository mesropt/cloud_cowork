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63C"/>
          </a:solidFill>
          <a:ln w="12700">
            <a:solidFill>
              <a:srgbClr val="C896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2D6A4F">
              <a:alpha val="30000"/>
            </a:srgbClr>
          </a:solidFill>
          <a:ln w="12700">
            <a:solidFill>
              <a:srgbClr val="2D6A4F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0" y="4572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dirty="0">
                <a:solidFill>
                  <a:srgbClr val="000000"/>
                </a:solidFill>
              </a:rPr>
              <a:t>☕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Basecamp Coffee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C8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Expansion Strategy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4114800" cy="36576"/>
          </a:xfrm>
          <a:prstGeom prst="rect">
            <a:avLst/>
          </a:prstGeom>
          <a:solidFill>
            <a:srgbClr val="C8963C"/>
          </a:solidFill>
          <a:ln w="12700">
            <a:solidFill>
              <a:srgbClr val="C896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560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Location Investment Opportunity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|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29"/>
          </a:solidFill>
          <a:ln w="12700">
            <a:solidFill>
              <a:srgbClr val="1B3A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OPPORTUNITY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651760" cy="1325880"/>
          </a:xfrm>
          <a:prstGeom prst="rect">
            <a:avLst/>
          </a:prstGeom>
          <a:solidFill>
            <a:srgbClr val="1B3A29"/>
          </a:solidFill>
          <a:ln w="12700">
            <a:solidFill>
              <a:srgbClr val="1B3A2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2651760" cy="73152"/>
          </a:xfrm>
          <a:prstGeom prst="rect">
            <a:avLst/>
          </a:prstGeom>
          <a:solidFill>
            <a:srgbClr val="C8963C"/>
          </a:solidFill>
          <a:ln w="12700">
            <a:solidFill>
              <a:srgbClr val="C896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6187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$85M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Eastside coffee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(annual)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143000"/>
            <a:ext cx="2651760" cy="1325880"/>
          </a:xfrm>
          <a:prstGeom prst="rect">
            <a:avLst/>
          </a:prstGeom>
          <a:solidFill>
            <a:srgbClr val="1B3A29"/>
          </a:solidFill>
          <a:ln w="12700">
            <a:solidFill>
              <a:srgbClr val="1B3A2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143000"/>
            <a:ext cx="2651760" cy="73152"/>
          </a:xfrm>
          <a:prstGeom prst="rect">
            <a:avLst/>
          </a:prstGeom>
          <a:solidFill>
            <a:srgbClr val="C8963C"/>
          </a:solidFill>
          <a:ln w="12700">
            <a:solidFill>
              <a:srgbClr val="C896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26187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6.2%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383280" y="1828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 coffee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rate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143000"/>
            <a:ext cx="2651760" cy="1325880"/>
          </a:xfrm>
          <a:prstGeom prst="rect">
            <a:avLst/>
          </a:prstGeom>
          <a:solidFill>
            <a:srgbClr val="1B3A29"/>
          </a:solidFill>
          <a:ln w="12700">
            <a:solidFill>
              <a:srgbClr val="1B3A2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143000"/>
            <a:ext cx="2651760" cy="73152"/>
          </a:xfrm>
          <a:prstGeom prst="rect">
            <a:avLst/>
          </a:prstGeom>
          <a:solidFill>
            <a:srgbClr val="C8963C"/>
          </a:solidFill>
          <a:ln w="12700">
            <a:solidFill>
              <a:srgbClr val="C896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26187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$134K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309360" y="1828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household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(Eastside)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670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Case for Expansion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54864" cy="201168"/>
          </a:xfrm>
          <a:prstGeom prst="rect">
            <a:avLst/>
          </a:prstGeom>
          <a:solidFill>
            <a:srgbClr val="C8963C"/>
          </a:solidFill>
          <a:ln w="12700">
            <a:solidFill>
              <a:srgbClr val="C896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09067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location operating at capacity — turning away customers during peak hours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456432"/>
            <a:ext cx="54864" cy="201168"/>
          </a:xfrm>
          <a:prstGeom prst="rect">
            <a:avLst/>
          </a:prstGeom>
          <a:solidFill>
            <a:srgbClr val="C8963C"/>
          </a:solidFill>
          <a:ln w="12700">
            <a:solidFill>
              <a:srgbClr val="C896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43814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Eastside market growing 12.8% in five years, outpacing Seattle proper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3803904"/>
            <a:ext cx="54864" cy="201168"/>
          </a:xfrm>
          <a:prstGeom prst="rect">
            <a:avLst/>
          </a:prstGeom>
          <a:solidFill>
            <a:srgbClr val="C8963C"/>
          </a:solidFill>
          <a:ln w="12700">
            <a:solidFill>
              <a:srgbClr val="C896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78561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competitive gap: no premium independent with strong brand in Crossroads area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4151376"/>
            <a:ext cx="54864" cy="201168"/>
          </a:xfrm>
          <a:prstGeom prst="rect">
            <a:avLst/>
          </a:prstGeom>
          <a:solidFill>
            <a:srgbClr val="C8963C"/>
          </a:solidFill>
          <a:ln w="12700">
            <a:solidFill>
              <a:srgbClr val="C896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413308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 of consumers prefer local/independent over chains — willingness to pay premium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4498848"/>
            <a:ext cx="54864" cy="201168"/>
          </a:xfrm>
          <a:prstGeom prst="rect">
            <a:avLst/>
          </a:prstGeom>
          <a:solidFill>
            <a:srgbClr val="C8963C"/>
          </a:solidFill>
          <a:ln w="12700">
            <a:solidFill>
              <a:srgbClr val="C896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448056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break-even projected at 6–12 months based on 60–70% of Location 1 performance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29"/>
          </a:solidFill>
          <a:ln w="12700">
            <a:solidFill>
              <a:srgbClr val="1B3A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OPPORTUNITY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Annual Growth Rates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554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Market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91640" y="1591056"/>
            <a:ext cx="3200400" cy="228600"/>
          </a:xfrm>
          <a:prstGeom prst="rect">
            <a:avLst/>
          </a:prstGeom>
          <a:solidFill>
            <a:srgbClr val="E8E0D4"/>
          </a:solidFill>
          <a:ln w="12700">
            <a:solidFill>
              <a:srgbClr val="E8E0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91640" y="1591056"/>
            <a:ext cx="1344168" cy="2286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54096" y="1554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1214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Seattle Metro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91640" y="2157984"/>
            <a:ext cx="3200400" cy="228600"/>
          </a:xfrm>
          <a:prstGeom prst="rect">
            <a:avLst/>
          </a:prstGeom>
          <a:solidFill>
            <a:srgbClr val="E8E0D4"/>
          </a:solidFill>
          <a:ln w="12700">
            <a:solidFill>
              <a:srgbClr val="E8E0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91640" y="2157984"/>
            <a:ext cx="1536192" cy="2286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21214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6883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Eastside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691640" y="2724912"/>
            <a:ext cx="3200400" cy="228600"/>
          </a:xfrm>
          <a:prstGeom prst="rect">
            <a:avLst/>
          </a:prstGeom>
          <a:solidFill>
            <a:srgbClr val="E8E0D4"/>
          </a:solidFill>
          <a:ln w="12700">
            <a:solidFill>
              <a:srgbClr val="E8E0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91640" y="2724912"/>
            <a:ext cx="1984248" cy="228600"/>
          </a:xfrm>
          <a:prstGeom prst="rect">
            <a:avLst/>
          </a:prstGeom>
          <a:solidFill>
            <a:srgbClr val="C8963C"/>
          </a:solidFill>
          <a:ln w="12700">
            <a:solidFill>
              <a:srgbClr val="C896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4176" y="26883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32552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 Seg.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691640" y="3291840"/>
            <a:ext cx="3200400" cy="228600"/>
          </a:xfrm>
          <a:prstGeom prst="rect">
            <a:avLst/>
          </a:prstGeom>
          <a:solidFill>
            <a:srgbClr val="E8E0D4"/>
          </a:solidFill>
          <a:ln w="12700">
            <a:solidFill>
              <a:srgbClr val="E8E0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91640" y="3291840"/>
            <a:ext cx="2272284" cy="228600"/>
          </a:xfrm>
          <a:prstGeom prst="rect">
            <a:avLst/>
          </a:prstGeom>
          <a:solidFill>
            <a:srgbClr val="C8963C"/>
          </a:solidFill>
          <a:ln w="12700">
            <a:solidFill>
              <a:srgbClr val="C896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82212" y="32552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0" y="1051560"/>
            <a:ext cx="3749040" cy="3749040"/>
          </a:xfrm>
          <a:prstGeom prst="rect">
            <a:avLst/>
          </a:prstGeom>
          <a:solidFill>
            <a:srgbClr val="1B3A29"/>
          </a:solidFill>
          <a:ln w="12700">
            <a:solidFill>
              <a:srgbClr val="1B3A2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0" y="1051560"/>
            <a:ext cx="3749040" cy="54864"/>
          </a:xfrm>
          <a:prstGeom prst="rect">
            <a:avLst/>
          </a:prstGeom>
          <a:solidFill>
            <a:srgbClr val="C8963C"/>
          </a:solidFill>
          <a:ln w="12700">
            <a:solidFill>
              <a:srgbClr val="C896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66360" y="11704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Eastside Demographics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166360" y="1600200"/>
            <a:ext cx="438912" cy="43891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6636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669280" y="16184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95160" y="15819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8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~400,000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669280" y="181965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FB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+12.8% in 5 yrs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166360" y="2112264"/>
            <a:ext cx="3474720" cy="1828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66360" y="2350008"/>
            <a:ext cx="438912" cy="43891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66360" y="2350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💼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669280" y="23682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Workers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95160" y="23317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8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180,000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669280" y="256946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FB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$8.20/day on coffee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166360" y="2862072"/>
            <a:ext cx="3474720" cy="1828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66360" y="3099816"/>
            <a:ext cx="438912" cy="43891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66360" y="30998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🏠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669280" y="31181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Income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995160" y="30815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8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$134,000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669280" y="331927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FB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$110K Seattle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166360" y="3611880"/>
            <a:ext cx="3474720" cy="1828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166360" y="3849624"/>
            <a:ext cx="438912" cy="43891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66360" y="38496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💻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669280" y="38679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Workers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995160" y="38313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8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52%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669280" y="40690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FB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all-day guests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3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RECOMMENDATION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1463040"/>
          </a:xfrm>
          <a:prstGeom prst="rect">
            <a:avLst/>
          </a:prstGeom>
          <a:solidFill>
            <a:srgbClr val="C8963C">
              <a:alpha val="85000"/>
            </a:srgbClr>
          </a:solidFill>
          <a:ln w="12700">
            <a:solidFill>
              <a:srgbClr val="C896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Basecamp Coffee — Location 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71907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DE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Crossroads, Bellevue  ·  Spring 2025  ·  $175,000 investment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2834640"/>
            <a:ext cx="2697480" cy="2011680"/>
          </a:xfrm>
          <a:prstGeom prst="rect">
            <a:avLst/>
          </a:prstGeom>
          <a:solidFill>
            <a:srgbClr val="2D6A4F">
              <a:alpha val="80000"/>
            </a:srgbClr>
          </a:solidFill>
          <a:ln w="12700">
            <a:solidFill>
              <a:srgbClr val="2D6A4F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290779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📍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34107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8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Best-Value Location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3822192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1,800 sq ft at Crossroads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$6,000/mo — room to grow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underserved market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64408" y="2834640"/>
            <a:ext cx="2697480" cy="2011680"/>
          </a:xfrm>
          <a:prstGeom prst="rect">
            <a:avLst/>
          </a:prstGeom>
          <a:solidFill>
            <a:srgbClr val="2D6A4F">
              <a:alpha val="80000"/>
            </a:srgbClr>
          </a:solidFill>
          <a:ln w="12700">
            <a:solidFill>
              <a:srgbClr val="2D6A4F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64408" y="290779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🚀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355848" y="34107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8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Phased Opening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355848" y="3822192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Drinks-only soft launch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menu at Month 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hours, then expand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17336" y="2834640"/>
            <a:ext cx="2697480" cy="2011680"/>
          </a:xfrm>
          <a:prstGeom prst="rect">
            <a:avLst/>
          </a:prstGeom>
          <a:solidFill>
            <a:srgbClr val="2D6A4F">
              <a:alpha val="80000"/>
            </a:srgbClr>
          </a:solidFill>
          <a:ln w="12700">
            <a:solidFill>
              <a:srgbClr val="2D6A4F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17336" y="290779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208776" y="34107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8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08776" y="3822192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place for remote workers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Superior food program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Community-first brand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29"/>
          </a:solidFill>
          <a:ln w="12700">
            <a:solidFill>
              <a:srgbClr val="1B3A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LOCATION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1828800" cy="384048"/>
          </a:xfrm>
          <a:prstGeom prst="rect">
            <a:avLst/>
          </a:prstGeom>
          <a:solidFill>
            <a:srgbClr val="1B3A29"/>
          </a:solidFill>
          <a:ln w="12700">
            <a:solidFill>
              <a:srgbClr val="1B3A2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94560" y="1051560"/>
            <a:ext cx="2240280" cy="384048"/>
          </a:xfrm>
          <a:prstGeom prst="rect">
            <a:avLst/>
          </a:prstGeom>
          <a:solidFill>
            <a:srgbClr val="1B3A29"/>
          </a:solidFill>
          <a:ln w="12700">
            <a:solidFill>
              <a:srgbClr val="1B3A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40280" y="105156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 St, Bellevue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80560" y="1051560"/>
            <a:ext cx="2240280" cy="384048"/>
          </a:xfrm>
          <a:prstGeom prst="rect">
            <a:avLst/>
          </a:prstGeom>
          <a:solidFill>
            <a:srgbClr val="C8963C"/>
          </a:solidFill>
          <a:ln w="12700">
            <a:solidFill>
              <a:srgbClr val="C896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105156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Crossroads ⭐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66560" y="1051560"/>
            <a:ext cx="2240280" cy="384048"/>
          </a:xfrm>
          <a:prstGeom prst="rect">
            <a:avLst/>
          </a:prstGeom>
          <a:solidFill>
            <a:srgbClr val="1B3A29"/>
          </a:solidFill>
          <a:ln w="12700">
            <a:solidFill>
              <a:srgbClr val="1B3A2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12280" y="105156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 District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463040"/>
            <a:ext cx="1828800" cy="457200"/>
          </a:xfrm>
          <a:prstGeom prst="rect">
            <a:avLst/>
          </a:prstGeom>
          <a:solidFill>
            <a:srgbClr val="F0EBE3"/>
          </a:solidFill>
          <a:ln w="12700">
            <a:solidFill>
              <a:srgbClr val="E0D8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94560" y="1463040"/>
            <a:ext cx="2240280" cy="457200"/>
          </a:xfrm>
          <a:prstGeom prst="rect">
            <a:avLst/>
          </a:prstGeom>
          <a:solidFill>
            <a:srgbClr val="F0EBE3"/>
          </a:solidFill>
          <a:ln w="12700">
            <a:solidFill>
              <a:srgbClr val="E0D8C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0560" y="1463040"/>
            <a:ext cx="2240280" cy="457200"/>
          </a:xfrm>
          <a:prstGeom prst="rect">
            <a:avLst/>
          </a:prstGeom>
          <a:solidFill>
            <a:srgbClr val="FDEFD0"/>
          </a:solidFill>
          <a:ln w="12700">
            <a:solidFill>
              <a:srgbClr val="E0D8C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0" y="1463040"/>
            <a:ext cx="2240280" cy="457200"/>
          </a:xfrm>
          <a:prstGeom prst="rect">
            <a:avLst/>
          </a:prstGeom>
          <a:solidFill>
            <a:srgbClr val="F0EBE3"/>
          </a:solidFill>
          <a:ln w="12700">
            <a:solidFill>
              <a:srgbClr val="E0D8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49961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40280" y="149961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$8,000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26280" y="149961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$6,000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12280" y="149961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$4,800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1956816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94560" y="1956816"/>
            <a:ext cx="2240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1956816"/>
            <a:ext cx="2240280" cy="457200"/>
          </a:xfrm>
          <a:prstGeom prst="rect">
            <a:avLst/>
          </a:prstGeom>
          <a:solidFill>
            <a:srgbClr val="FDEFD0"/>
          </a:solidFill>
          <a:ln w="12700">
            <a:solidFill>
              <a:srgbClr val="E0D8C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0" y="1956816"/>
            <a:ext cx="2240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19933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240280" y="199339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1,400 sq ft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26280" y="199339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1,800 sq ft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12280" y="199339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 sq ft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2450592"/>
            <a:ext cx="1828800" cy="457200"/>
          </a:xfrm>
          <a:prstGeom prst="rect">
            <a:avLst/>
          </a:prstGeom>
          <a:solidFill>
            <a:srgbClr val="F0EBE3"/>
          </a:solidFill>
          <a:ln w="12700">
            <a:solidFill>
              <a:srgbClr val="E0D8C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94560" y="2450592"/>
            <a:ext cx="2240280" cy="457200"/>
          </a:xfrm>
          <a:prstGeom prst="rect">
            <a:avLst/>
          </a:prstGeom>
          <a:solidFill>
            <a:srgbClr val="F0EBE3"/>
          </a:solidFill>
          <a:ln w="12700">
            <a:solidFill>
              <a:srgbClr val="E0D8C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80560" y="2450592"/>
            <a:ext cx="2240280" cy="457200"/>
          </a:xfrm>
          <a:prstGeom prst="rect">
            <a:avLst/>
          </a:prstGeom>
          <a:solidFill>
            <a:srgbClr val="FDEFD0"/>
          </a:solidFill>
          <a:ln w="12700">
            <a:solidFill>
              <a:srgbClr val="E0D8C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66560" y="2450592"/>
            <a:ext cx="2240280" cy="457200"/>
          </a:xfrm>
          <a:prstGeom prst="rect">
            <a:avLst/>
          </a:prstGeom>
          <a:solidFill>
            <a:srgbClr val="F0EBE3"/>
          </a:solidFill>
          <a:ln w="12700">
            <a:solidFill>
              <a:srgbClr val="E0D8C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24871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240280" y="248716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only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26280" y="248716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lot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12280" y="248716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" y="2944368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194560" y="2944368"/>
            <a:ext cx="2240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80560" y="2944368"/>
            <a:ext cx="2240280" cy="457200"/>
          </a:xfrm>
          <a:prstGeom prst="rect">
            <a:avLst/>
          </a:prstGeom>
          <a:solidFill>
            <a:srgbClr val="FDEFD0"/>
          </a:solidFill>
          <a:ln w="12700">
            <a:solidFill>
              <a:srgbClr val="E0D8C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66560" y="2944368"/>
            <a:ext cx="2240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29809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 Traffic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240280" y="298094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26280" y="298094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812280" y="298094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20040" y="3438144"/>
            <a:ext cx="1828800" cy="457200"/>
          </a:xfrm>
          <a:prstGeom prst="rect">
            <a:avLst/>
          </a:prstGeom>
          <a:solidFill>
            <a:srgbClr val="F0EBE3"/>
          </a:solidFill>
          <a:ln w="12700">
            <a:solidFill>
              <a:srgbClr val="E0D8C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194560" y="3438144"/>
            <a:ext cx="2240280" cy="457200"/>
          </a:xfrm>
          <a:prstGeom prst="rect">
            <a:avLst/>
          </a:prstGeom>
          <a:solidFill>
            <a:srgbClr val="F0EBE3"/>
          </a:solidFill>
          <a:ln w="12700">
            <a:solidFill>
              <a:srgbClr val="E0D8C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480560" y="3438144"/>
            <a:ext cx="2240280" cy="457200"/>
          </a:xfrm>
          <a:prstGeom prst="rect">
            <a:avLst/>
          </a:prstGeom>
          <a:solidFill>
            <a:srgbClr val="FDEFD0"/>
          </a:solidFill>
          <a:ln w="12700">
            <a:solidFill>
              <a:srgbClr val="E0D8C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766560" y="3438144"/>
            <a:ext cx="2240280" cy="457200"/>
          </a:xfrm>
          <a:prstGeom prst="rect">
            <a:avLst/>
          </a:prstGeom>
          <a:solidFill>
            <a:srgbClr val="F0EBE3"/>
          </a:solidFill>
          <a:ln w="12700">
            <a:solidFill>
              <a:srgbClr val="E0D8C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34747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240280" y="347472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526280" y="347472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812280" y="347472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20040" y="393192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194560" y="3931920"/>
            <a:ext cx="2240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480560" y="3931920"/>
            <a:ext cx="2240280" cy="457200"/>
          </a:xfrm>
          <a:prstGeom prst="rect">
            <a:avLst/>
          </a:prstGeom>
          <a:solidFill>
            <a:srgbClr val="FDEFD0"/>
          </a:solidFill>
          <a:ln w="12700">
            <a:solidFill>
              <a:srgbClr val="E0D8C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766560" y="3931920"/>
            <a:ext cx="2240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1480" y="396849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Buildout Cost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2240280" y="39684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~$65K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526280" y="39684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~$75K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812280" y="39684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~$55K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320040" y="448056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B3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Recommended: Crossroads offers best value, lowest competition, and room to grow into our third-place vision.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29"/>
          </a:solidFill>
          <a:ln w="12700">
            <a:solidFill>
              <a:srgbClr val="1B3A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Startup Investment: ~$175,000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Buildout &amp; Improvements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331720" y="1545336"/>
            <a:ext cx="2560320" cy="182880"/>
          </a:xfrm>
          <a:prstGeom prst="rect">
            <a:avLst/>
          </a:prstGeom>
          <a:solidFill>
            <a:srgbClr val="E0D8CF"/>
          </a:solidFill>
          <a:ln w="12700">
            <a:solidFill>
              <a:srgbClr val="E0D8C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1720" y="1545336"/>
            <a:ext cx="1971446" cy="1828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56048" y="15087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$75,000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19659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331720" y="2002536"/>
            <a:ext cx="2560320" cy="182880"/>
          </a:xfrm>
          <a:prstGeom prst="rect">
            <a:avLst/>
          </a:prstGeom>
          <a:solidFill>
            <a:srgbClr val="E0D8CF"/>
          </a:solidFill>
          <a:ln w="12700">
            <a:solidFill>
              <a:srgbClr val="E0D8C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31720" y="2002536"/>
            <a:ext cx="1305763" cy="1828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56048" y="1965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$50,000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24231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&amp; Fixtures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331720" y="2459736"/>
            <a:ext cx="2560320" cy="182880"/>
          </a:xfrm>
          <a:prstGeom prst="rect">
            <a:avLst/>
          </a:prstGeom>
          <a:solidFill>
            <a:srgbClr val="E0D8CF"/>
          </a:solidFill>
          <a:ln w="12700">
            <a:solidFill>
              <a:srgbClr val="E0D8C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31720" y="2459736"/>
            <a:ext cx="460858" cy="1828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56048" y="24231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$17,500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5760" y="2880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Inventory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331720" y="2916936"/>
            <a:ext cx="2560320" cy="182880"/>
          </a:xfrm>
          <a:prstGeom prst="rect">
            <a:avLst/>
          </a:prstGeom>
          <a:solidFill>
            <a:srgbClr val="E0D8CF"/>
          </a:solidFill>
          <a:ln w="12700">
            <a:solidFill>
              <a:srgbClr val="E0D8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31720" y="2916936"/>
            <a:ext cx="230429" cy="1828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6048" y="28803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$9,000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5760" y="33375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 (3mo)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331720" y="3374136"/>
            <a:ext cx="2560320" cy="182880"/>
          </a:xfrm>
          <a:prstGeom prst="rect">
            <a:avLst/>
          </a:prstGeom>
          <a:solidFill>
            <a:srgbClr val="E0D8CF"/>
          </a:solidFill>
          <a:ln w="12700">
            <a:solidFill>
              <a:srgbClr val="E0D8C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31720" y="3374136"/>
            <a:ext cx="793699" cy="1828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33375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$30,000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5760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Marketing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331720" y="3831336"/>
            <a:ext cx="2560320" cy="182880"/>
          </a:xfrm>
          <a:prstGeom prst="rect">
            <a:avLst/>
          </a:prstGeom>
          <a:solidFill>
            <a:srgbClr val="E0D8CF"/>
          </a:solidFill>
          <a:ln w="12700">
            <a:solidFill>
              <a:srgbClr val="E0D8C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31720" y="3831336"/>
            <a:ext cx="204826" cy="1828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37947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$7,500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303520" y="1024128"/>
            <a:ext cx="3520440" cy="3749040"/>
          </a:xfrm>
          <a:prstGeom prst="rect">
            <a:avLst/>
          </a:prstGeom>
          <a:solidFill>
            <a:srgbClr val="1B3A29"/>
          </a:solidFill>
          <a:ln w="12700">
            <a:solidFill>
              <a:srgbClr val="1B3A2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303520" y="1024128"/>
            <a:ext cx="3520440" cy="54864"/>
          </a:xfrm>
          <a:prstGeom prst="rect">
            <a:avLst/>
          </a:prstGeom>
          <a:solidFill>
            <a:srgbClr val="C8963C"/>
          </a:solidFill>
          <a:ln w="12700">
            <a:solidFill>
              <a:srgbClr val="C896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40680" y="111556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Projected Performance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349240" y="1536192"/>
            <a:ext cx="822960" cy="502920"/>
          </a:xfrm>
          <a:prstGeom prst="rect">
            <a:avLst/>
          </a:prstGeom>
          <a:solidFill>
            <a:srgbClr val="2D6A4F"/>
          </a:solidFill>
          <a:ln w="12700">
            <a:solidFill>
              <a:srgbClr val="1B3A2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76672" y="1591056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99632" y="1536192"/>
            <a:ext cx="822960" cy="502920"/>
          </a:xfrm>
          <a:prstGeom prst="rect">
            <a:avLst/>
          </a:prstGeom>
          <a:solidFill>
            <a:srgbClr val="2D6A4F"/>
          </a:solidFill>
          <a:ln w="12700">
            <a:solidFill>
              <a:srgbClr val="1B3A2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27064" y="1591056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 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050024" y="1536192"/>
            <a:ext cx="822960" cy="502920"/>
          </a:xfrm>
          <a:prstGeom prst="rect">
            <a:avLst/>
          </a:prstGeom>
          <a:solidFill>
            <a:srgbClr val="2D6A4F"/>
          </a:solidFill>
          <a:ln w="12700">
            <a:solidFill>
              <a:srgbClr val="1B3A2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77456" y="1591056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 2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900416" y="1536192"/>
            <a:ext cx="822960" cy="502920"/>
          </a:xfrm>
          <a:prstGeom prst="rect">
            <a:avLst/>
          </a:prstGeom>
          <a:solidFill>
            <a:srgbClr val="2D6A4F"/>
          </a:solidFill>
          <a:ln w="12700">
            <a:solidFill>
              <a:srgbClr val="1B3A2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27848" y="1591056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 3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349240" y="2084832"/>
            <a:ext cx="822960" cy="502920"/>
          </a:xfrm>
          <a:prstGeom prst="rect">
            <a:avLst/>
          </a:prstGeom>
          <a:solidFill>
            <a:srgbClr val="2D6A4F"/>
          </a:solidFill>
          <a:ln w="12700">
            <a:solidFill>
              <a:srgbClr val="1B3A2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76672" y="2139696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199632" y="2084832"/>
            <a:ext cx="822960" cy="502920"/>
          </a:xfrm>
          <a:prstGeom prst="rect">
            <a:avLst/>
          </a:prstGeom>
          <a:solidFill>
            <a:srgbClr val="243D2E"/>
          </a:solidFill>
          <a:ln w="12700">
            <a:solidFill>
              <a:srgbClr val="1B3A2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27064" y="2139696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$489K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050024" y="2084832"/>
            <a:ext cx="822960" cy="502920"/>
          </a:xfrm>
          <a:prstGeom prst="rect">
            <a:avLst/>
          </a:prstGeom>
          <a:solidFill>
            <a:srgbClr val="243D2E"/>
          </a:solidFill>
          <a:ln w="12700">
            <a:solidFill>
              <a:srgbClr val="1B3A2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77456" y="2139696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$612K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900416" y="2084832"/>
            <a:ext cx="822960" cy="502920"/>
          </a:xfrm>
          <a:prstGeom prst="rect">
            <a:avLst/>
          </a:prstGeom>
          <a:solidFill>
            <a:srgbClr val="243D2E"/>
          </a:solidFill>
          <a:ln w="12700">
            <a:solidFill>
              <a:srgbClr val="1B3A2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27848" y="2139696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$734K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349240" y="2633472"/>
            <a:ext cx="822960" cy="502920"/>
          </a:xfrm>
          <a:prstGeom prst="rect">
            <a:avLst/>
          </a:prstGeom>
          <a:solidFill>
            <a:srgbClr val="2D6A4F"/>
          </a:solidFill>
          <a:ln w="12700">
            <a:solidFill>
              <a:srgbClr val="1B3A2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76672" y="2688336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Expenses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199632" y="2633472"/>
            <a:ext cx="822960" cy="502920"/>
          </a:xfrm>
          <a:prstGeom prst="rect">
            <a:avLst/>
          </a:prstGeom>
          <a:solidFill>
            <a:srgbClr val="243D2E"/>
          </a:solidFill>
          <a:ln w="12700">
            <a:solidFill>
              <a:srgbClr val="1B3A2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27064" y="2688336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$441K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050024" y="2633472"/>
            <a:ext cx="822960" cy="502920"/>
          </a:xfrm>
          <a:prstGeom prst="rect">
            <a:avLst/>
          </a:prstGeom>
          <a:solidFill>
            <a:srgbClr val="243D2E"/>
          </a:solidFill>
          <a:ln w="12700">
            <a:solidFill>
              <a:srgbClr val="1B3A2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77456" y="2688336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$538K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900416" y="2633472"/>
            <a:ext cx="822960" cy="502920"/>
          </a:xfrm>
          <a:prstGeom prst="rect">
            <a:avLst/>
          </a:prstGeom>
          <a:solidFill>
            <a:srgbClr val="243D2E"/>
          </a:solidFill>
          <a:ln w="12700">
            <a:solidFill>
              <a:srgbClr val="1B3A2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927848" y="2688336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$632K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349240" y="3182112"/>
            <a:ext cx="822960" cy="502920"/>
          </a:xfrm>
          <a:prstGeom prst="rect">
            <a:avLst/>
          </a:prstGeom>
          <a:solidFill>
            <a:srgbClr val="2D6A4F"/>
          </a:solidFill>
          <a:ln w="12700">
            <a:solidFill>
              <a:srgbClr val="1B3A2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76672" y="3236976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199632" y="3182112"/>
            <a:ext cx="822960" cy="502920"/>
          </a:xfrm>
          <a:prstGeom prst="rect">
            <a:avLst/>
          </a:prstGeom>
          <a:solidFill>
            <a:srgbClr val="3D1515"/>
          </a:solidFill>
          <a:ln w="12700">
            <a:solidFill>
              <a:srgbClr val="1B3A2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27064" y="3236976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($48K)*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050024" y="3182112"/>
            <a:ext cx="822960" cy="502920"/>
          </a:xfrm>
          <a:prstGeom prst="rect">
            <a:avLst/>
          </a:prstGeom>
          <a:solidFill>
            <a:srgbClr val="1A3D28"/>
          </a:solidFill>
          <a:ln w="12700">
            <a:solidFill>
              <a:srgbClr val="1B3A2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077456" y="3236976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$74K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900416" y="3182112"/>
            <a:ext cx="822960" cy="502920"/>
          </a:xfrm>
          <a:prstGeom prst="rect">
            <a:avLst/>
          </a:prstGeom>
          <a:solidFill>
            <a:srgbClr val="1A3D28"/>
          </a:solidFill>
          <a:ln w="12700">
            <a:solidFill>
              <a:srgbClr val="1B3A2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927848" y="3236976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$102K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349240" y="37490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FB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*Year 1 net loss typical for new location — funded by working capital reserve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5349240" y="4224528"/>
            <a:ext cx="1078992" cy="512064"/>
          </a:xfrm>
          <a:prstGeom prst="rect">
            <a:avLst/>
          </a:prstGeom>
          <a:solidFill>
            <a:srgbClr val="C8963C"/>
          </a:solidFill>
          <a:ln w="12700">
            <a:solidFill>
              <a:srgbClr val="C8963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385816" y="42428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3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5385816" y="444398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6–12 months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492240" y="4224528"/>
            <a:ext cx="1078992" cy="512064"/>
          </a:xfrm>
          <a:prstGeom prst="rect">
            <a:avLst/>
          </a:prstGeom>
          <a:solidFill>
            <a:srgbClr val="C8963C"/>
          </a:solidFill>
          <a:ln w="12700">
            <a:solidFill>
              <a:srgbClr val="C8963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528816" y="42428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3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6528816" y="444398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12–18 months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7635240" y="4224528"/>
            <a:ext cx="1078992" cy="512064"/>
          </a:xfrm>
          <a:prstGeom prst="rect">
            <a:avLst/>
          </a:prstGeom>
          <a:solidFill>
            <a:srgbClr val="C8963C"/>
          </a:solidFill>
          <a:ln w="12700">
            <a:solidFill>
              <a:srgbClr val="C8963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671816" y="42428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3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(3yr)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7671816" y="444398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~17%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RISKS &amp; MITIGATION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8595360" cy="685800"/>
          </a:xfrm>
          <a:prstGeom prst="rect">
            <a:avLst/>
          </a:prstGeom>
          <a:solidFill>
            <a:srgbClr val="243D2E"/>
          </a:solidFill>
          <a:ln w="12700">
            <a:solidFill>
              <a:srgbClr val="2D6A4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70432"/>
            <a:ext cx="822960" cy="201168"/>
          </a:xfrm>
          <a:prstGeom prst="rect">
            <a:avLst/>
          </a:prstGeom>
          <a:solidFill>
            <a:srgbClr val="FFD580"/>
          </a:solidFill>
          <a:ln w="12700">
            <a:solidFill>
              <a:srgbClr val="FFD5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704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Medium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20040" y="1426464"/>
            <a:ext cx="822960" cy="20116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2646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I: High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261872" y="11338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dilution across two locations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261872" y="144475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Hire &amp; train manager 3+ months before opening; documented SOPs; weekly audits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847088"/>
            <a:ext cx="8595360" cy="685800"/>
          </a:xfrm>
          <a:prstGeom prst="rect">
            <a:avLst/>
          </a:prstGeom>
          <a:solidFill>
            <a:srgbClr val="243D2E"/>
          </a:solidFill>
          <a:ln w="12700">
            <a:solidFill>
              <a:srgbClr val="2D6A4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938528"/>
            <a:ext cx="822960" cy="201168"/>
          </a:xfrm>
          <a:prstGeom prst="rect">
            <a:avLst/>
          </a:prstGeom>
          <a:solidFill>
            <a:srgbClr val="FF9999"/>
          </a:solidFill>
          <a:ln w="12700">
            <a:solidFill>
              <a:srgbClr val="FF99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9385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Med–High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20040" y="2194560"/>
            <a:ext cx="822960" cy="20116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1945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I: Medium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261872" y="1901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Construction cost overruns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261872" y="221284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15% contingency budget; fixed-price contracts; phased buildout option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615184"/>
            <a:ext cx="8595360" cy="685800"/>
          </a:xfrm>
          <a:prstGeom prst="rect">
            <a:avLst/>
          </a:prstGeom>
          <a:solidFill>
            <a:srgbClr val="243D2E"/>
          </a:solidFill>
          <a:ln w="12700">
            <a:solidFill>
              <a:srgbClr val="2D6A4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706624"/>
            <a:ext cx="822960" cy="201168"/>
          </a:xfrm>
          <a:prstGeom prst="rect">
            <a:avLst/>
          </a:prstGeom>
          <a:solidFill>
            <a:srgbClr val="FFD580"/>
          </a:solidFill>
          <a:ln w="12700">
            <a:solidFill>
              <a:srgbClr val="FFD5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70662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Medium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20040" y="2962656"/>
            <a:ext cx="822960" cy="20116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9626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I: Medium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261872" y="26700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Slower revenue ramp-up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261872" y="298094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Conservative model at 60–70% of L1; 6 months operating reserve; 18-month profitability gate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383280"/>
            <a:ext cx="8595360" cy="685800"/>
          </a:xfrm>
          <a:prstGeom prst="rect">
            <a:avLst/>
          </a:prstGeom>
          <a:solidFill>
            <a:srgbClr val="243D2E"/>
          </a:solidFill>
          <a:ln w="12700">
            <a:solidFill>
              <a:srgbClr val="2D6A4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474720"/>
            <a:ext cx="822960" cy="201168"/>
          </a:xfrm>
          <a:prstGeom prst="rect">
            <a:avLst/>
          </a:prstGeom>
          <a:solidFill>
            <a:srgbClr val="FF9999"/>
          </a:solidFill>
          <a:ln w="12700">
            <a:solidFill>
              <a:srgbClr val="FF99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4747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High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20040" y="3730752"/>
            <a:ext cx="822960" cy="20116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7307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I: Medium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261872" y="34381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competitor enters market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261872" y="374904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First-mover in Crossroads; strong brand differentiation; community integration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4151376"/>
            <a:ext cx="8595360" cy="685800"/>
          </a:xfrm>
          <a:prstGeom prst="rect">
            <a:avLst/>
          </a:prstGeom>
          <a:solidFill>
            <a:srgbClr val="243D2E"/>
          </a:solidFill>
          <a:ln w="12700">
            <a:solidFill>
              <a:srgbClr val="2D6A4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4242816"/>
            <a:ext cx="822960" cy="201168"/>
          </a:xfrm>
          <a:prstGeom prst="rect">
            <a:avLst/>
          </a:prstGeom>
          <a:solidFill>
            <a:srgbClr val="FFD580"/>
          </a:solidFill>
          <a:ln w="12700">
            <a:solidFill>
              <a:srgbClr val="FFD5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42428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Med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20040" y="4498848"/>
            <a:ext cx="822960" cy="20116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4988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I: High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261872" y="4206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Founder capacity / burnout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261872" y="451713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Hire manager before opening; clear partner roles; documented exit conditions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29"/>
          </a:solidFill>
          <a:ln w="12700">
            <a:solidFill>
              <a:srgbClr val="1B3A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CONDITIONS &amp; NEXT STEPS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Non-Negotiable Conditions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3898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proceed only when all five are met: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55648"/>
            <a:ext cx="384048" cy="347472"/>
          </a:xfrm>
          <a:prstGeom prst="rect">
            <a:avLst/>
          </a:prstGeom>
          <a:solidFill>
            <a:srgbClr val="C8963C"/>
          </a:solidFill>
          <a:ln w="12700">
            <a:solidFill>
              <a:srgbClr val="C896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7556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8105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Full-time manager hired BEFORE opening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258568"/>
            <a:ext cx="384048" cy="347472"/>
          </a:xfrm>
          <a:prstGeom prst="rect">
            <a:avLst/>
          </a:prstGeom>
          <a:solidFill>
            <a:srgbClr val="C8963C"/>
          </a:solidFill>
          <a:ln w="12700">
            <a:solidFill>
              <a:srgbClr val="C896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25856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3134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months operating capital in reserve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761488"/>
            <a:ext cx="384048" cy="347472"/>
          </a:xfrm>
          <a:prstGeom prst="rect">
            <a:avLst/>
          </a:prstGeom>
          <a:solidFill>
            <a:srgbClr val="C8963C"/>
          </a:solidFill>
          <a:ln w="12700">
            <a:solidFill>
              <a:srgbClr val="C896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76148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28163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 guarantee on lease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264408"/>
            <a:ext cx="384048" cy="347472"/>
          </a:xfrm>
          <a:prstGeom prst="rect">
            <a:avLst/>
          </a:prstGeom>
          <a:solidFill>
            <a:srgbClr val="C8963C"/>
          </a:solidFill>
          <a:ln w="12700">
            <a:solidFill>
              <a:srgbClr val="C896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26440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33192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opening — not a big bang launch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767328"/>
            <a:ext cx="384048" cy="347472"/>
          </a:xfrm>
          <a:prstGeom prst="rect">
            <a:avLst/>
          </a:prstGeom>
          <a:solidFill>
            <a:srgbClr val="C8963C"/>
          </a:solidFill>
          <a:ln w="12700">
            <a:solidFill>
              <a:srgbClr val="C896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76732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38221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gate: close if not profitable in 18 months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1024128"/>
            <a:ext cx="4160520" cy="3767328"/>
          </a:xfrm>
          <a:prstGeom prst="rect">
            <a:avLst/>
          </a:prstGeom>
          <a:solidFill>
            <a:srgbClr val="1B3A29"/>
          </a:solidFill>
          <a:ln w="12700">
            <a:solidFill>
              <a:srgbClr val="1B3A2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00600" y="11430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Timeline to Launch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376672" y="1911096"/>
            <a:ext cx="36576" cy="23774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12080" y="1655064"/>
            <a:ext cx="292608" cy="29260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77840" y="163677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55080" y="163677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location &amp; sign lease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376672" y="2414016"/>
            <a:ext cx="36576" cy="23774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12080" y="2157984"/>
            <a:ext cx="292608" cy="29260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77840" y="213969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 mo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55080" y="213969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buildout &amp; permits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376672" y="2916936"/>
            <a:ext cx="36576" cy="23774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212080" y="2660904"/>
            <a:ext cx="292608" cy="29260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77840" y="264261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 mo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55080" y="264261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equipment (allow lead time)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376672" y="3419856"/>
            <a:ext cx="36576" cy="23774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12080" y="3163824"/>
            <a:ext cx="292608" cy="29260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77840" y="314553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 mo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355080" y="314553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&amp; begin manager training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376672" y="3922776"/>
            <a:ext cx="36576" cy="23774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212080" y="3666744"/>
            <a:ext cx="292608" cy="29260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77840" y="364845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 mo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355080" y="364845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opening — drinks only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212080" y="4169664"/>
            <a:ext cx="292608" cy="292608"/>
          </a:xfrm>
          <a:prstGeom prst="ellipse">
            <a:avLst/>
          </a:prstGeom>
          <a:solidFill>
            <a:srgbClr val="C8963C"/>
          </a:solidFill>
          <a:ln w="12700">
            <a:solidFill>
              <a:srgbClr val="C8963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77840" y="415137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355080" y="415137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opening — full menu &amp; hours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C8963C"/>
          </a:solidFill>
          <a:ln w="12700">
            <a:solidFill>
              <a:srgbClr val="C896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2D6A4F">
              <a:alpha val="25000"/>
            </a:srgbClr>
          </a:solidFill>
          <a:ln w="12700">
            <a:solidFill>
              <a:srgbClr val="2D6A4F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" y="36576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000000"/>
                </a:solidFill>
              </a:rPr>
              <a:t>☕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2834640" y="6400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Basecamp has proven its model.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834640" y="11704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8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it's time to grow it.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834640" y="1828800"/>
            <a:ext cx="5029200" cy="36576"/>
          </a:xfrm>
          <a:prstGeom prst="rect">
            <a:avLst/>
          </a:prstGeom>
          <a:solidFill>
            <a:srgbClr val="C8963C"/>
          </a:solidFill>
          <a:ln w="12700">
            <a:solidFill>
              <a:srgbClr val="C896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34640" y="1993392"/>
            <a:ext cx="54864" cy="274320"/>
          </a:xfrm>
          <a:prstGeom prst="rect">
            <a:avLst/>
          </a:prstGeom>
          <a:solidFill>
            <a:srgbClr val="C8963C"/>
          </a:solidFill>
          <a:ln w="12700">
            <a:solidFill>
              <a:srgbClr val="C896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199339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market — Eastside is outpacing Seattle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834640" y="2496312"/>
            <a:ext cx="54864" cy="274320"/>
          </a:xfrm>
          <a:prstGeom prst="rect">
            <a:avLst/>
          </a:prstGeom>
          <a:solidFill>
            <a:srgbClr val="C8963C"/>
          </a:solidFill>
          <a:ln w="12700">
            <a:solidFill>
              <a:srgbClr val="C896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249631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brand — Location 1 at capacity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34640" y="2999232"/>
            <a:ext cx="54864" cy="274320"/>
          </a:xfrm>
          <a:prstGeom prst="rect">
            <a:avLst/>
          </a:prstGeom>
          <a:solidFill>
            <a:srgbClr val="C8963C"/>
          </a:solidFill>
          <a:ln w="12700">
            <a:solidFill>
              <a:srgbClr val="C896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299923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Disciplined approach — 5 non-negotiable conditions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834640" y="3502152"/>
            <a:ext cx="54864" cy="274320"/>
          </a:xfrm>
          <a:prstGeom prst="rect">
            <a:avLst/>
          </a:prstGeom>
          <a:solidFill>
            <a:srgbClr val="C8963C"/>
          </a:solidFill>
          <a:ln w="12700">
            <a:solidFill>
              <a:srgbClr val="C896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350215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financials — break-even in 6–12 months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34640" y="4206240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 We welcome the conversation.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2026-03-31T06:53:19Z</dcterms:created>
  <dcterms:modified xsi:type="dcterms:W3CDTF">2026-03-31T06:53:19Z</dcterms:modified>
</cp:coreProperties>
</file>